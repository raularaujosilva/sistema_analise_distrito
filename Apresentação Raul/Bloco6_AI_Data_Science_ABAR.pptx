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900000"/>
            <a:ext cx="10717200" cy="52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44000"/>
            <a:ext cx="2340000" cy="72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6000" y="900000"/>
            <a:ext cx="10717200" cy="432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80000"/>
            <a:ext cx="90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886"/>
                </a:solidFill>
                <a:latin typeface="Calibri"/>
              </a:rPr>
              <a:t>Bloco 6 — Auditoria de Dados,</a:t>
            </a:r>
          </a:p>
          <a:p>
            <a:pPr algn="l"/>
            <a:r>
              <a:rPr sz="2800" b="1">
                <a:solidFill>
                  <a:srgbClr val="003886"/>
                </a:solidFill>
                <a:latin typeface="Calibri"/>
              </a:rPr>
              <a:t>BI e Transparência Reguladora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628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081BF"/>
                </a:solidFill>
                <a:latin typeface="Calibri"/>
              </a:rPr>
              <a:t>Como a Inteligência Artificial transforma</a:t>
            </a:r>
          </a:p>
          <a:p>
            <a:pPr algn="l"/>
            <a:r>
              <a:rPr sz="1700" b="0">
                <a:solidFill>
                  <a:srgbClr val="0081BF"/>
                </a:solidFill>
                <a:latin typeface="Calibri"/>
              </a:rPr>
              <a:t>a ciência de dados para reguladores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3456000"/>
            <a:ext cx="7920000" cy="216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360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886"/>
                </a:solidFill>
                <a:latin typeface="Calibri"/>
              </a:rPr>
              <a:t>Prof. Raul Araújo — AGENERSA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6318000"/>
            <a:ext cx="10717200" cy="54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6354001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ABAR — Medições Inteligentes e Gestão Integrada  |  Fevereiro 2026</a:t>
            </a:r>
          </a:p>
        </p:txBody>
      </p:sp>
      <p:pic>
        <p:nvPicPr>
          <p:cNvPr id="12" name="Picture 11" descr="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00" y="0"/>
            <a:ext cx="306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98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 IA Evoluiu Mais em 2 Anos do que em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38000"/>
            <a:ext cx="9853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Benchmarks que mostram uma ruptura tecnológica sem precedentes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180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0000" y="2575800"/>
            <a:ext cx="1152000" cy="2448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25902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Nov/2024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2000" y="25614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GPT-4o marcou apenas 3% no Humanity's Last Exam (HLE)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2910600"/>
            <a:ext cx="1152000" cy="2448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29250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Jan/2026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000" y="28962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Claude Opus 4.6 marca 40% no mesmo teste — em apenas 14 meses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3245400"/>
            <a:ext cx="1152000" cy="2448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000" y="32598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2000" y="32310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Modelos IA com QI ~65 (abaixo da média humana de 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580200"/>
            <a:ext cx="1152000" cy="2448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35946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000" y="35658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Claude Opus 4.6 com QI ~130 — faixa superdotado (topo 2% humano)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915000"/>
            <a:ext cx="1152000" cy="2448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000" y="39294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Jul/2025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000" y="39006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Gemini Deep Think → Medalha de Ouro na Olimpíada Internacional de Matemática (IMO)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" y="4249800"/>
            <a:ext cx="1152000" cy="2448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000" y="42642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2000" y="42354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Resolvem 76,8% de bugs reais de software (SWE-bench)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4584600"/>
            <a:ext cx="1152000" cy="2448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000" y="45990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FrontierMath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2000" y="45702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55"/>
                </a:solidFill>
                <a:latin typeface="Calibri"/>
              </a:rPr>
              <a:t>Matemática nível PhD: de 0% → 40% em apenas 12 meses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000" y="4919400"/>
            <a:ext cx="1152000" cy="2448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49338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Reflexão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2000" y="4905000"/>
            <a:ext cx="573192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1">
                <a:solidFill>
                  <a:srgbClr val="008A4B"/>
                </a:solidFill>
                <a:latin typeface="Calibri"/>
              </a:rPr>
              <a:t>"Se chegou aqui... o que faz com dados de distribuição de gás?"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2320" y="1256399"/>
            <a:ext cx="4668480" cy="5227202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enchmark_trackingai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920" y="1277999"/>
            <a:ext cx="4625280" cy="518400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000" y="6624001"/>
            <a:ext cx="118332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Fontes: TrackingAI.org | agi.safe.ai | epoch.ai/frontiermath   |   Curso ABAR — Medições Inteligentes e Gestão Integrada | Fevereiro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Roteiro das 4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Fio condutor: IBM Data Science Methodology aplicada com IA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2700000" cy="41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2700000" cy="64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29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Módulo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602000"/>
            <a:ext cx="25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Calibri"/>
              </a:rPr>
              <a:t>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01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Ecossistema de ferramentas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237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ChatGPT, Gemini, Copilot,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73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Níveis: do dia a dia ao projeto 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6000" y="1260000"/>
            <a:ext cx="2700000" cy="41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6000" y="1260000"/>
            <a:ext cx="2700000" cy="64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8000" y="129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Módulo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8000" y="1602000"/>
            <a:ext cx="25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Calibri"/>
              </a:rPr>
              <a:t>60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4000" y="201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Ciclo IBM Data Science com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4000" y="237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Cada etapa acelerada por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4000" y="273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De dados brutos ao modelo em produção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4000" y="1260000"/>
            <a:ext cx="2700000" cy="41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4000" y="1260000"/>
            <a:ext cx="2700000" cy="648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6000" y="129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Módulo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6000" y="1602000"/>
            <a:ext cx="25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Calibri"/>
              </a:rPr>
              <a:t>50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2000" y="201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Demo ao vivo — do Excel ao relatório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2000" y="237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7 Notebooks, 28 chamadas 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2000" y="273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Relatório de 8,9 MB em 1 minuto e 42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82000" y="1260000"/>
            <a:ext cx="2700000" cy="41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8B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2000" y="1260000"/>
            <a:ext cx="2700000" cy="64800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4000" y="129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Módulo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4000" y="1602000"/>
            <a:ext cx="25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Calibri"/>
              </a:rPr>
              <a:t>15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0000" y="201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NotebookLM para os alunos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0000" y="237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Carregar apostila do Prof. Barateiro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0000" y="2736000"/>
            <a:ext cx="2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444455"/>
                </a:solidFill>
                <a:latin typeface="Calibri"/>
              </a:rPr>
              <a:t>• Perguntas técnicas em linguagem natural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5508000"/>
            <a:ext cx="11340000" cy="251999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00" y="5515200"/>
            <a:ext cx="11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3886"/>
                </a:solidFill>
                <a:latin typeface="Calibri"/>
              </a:rPr>
              <a:t>⏸  Intervalo de 10 minutos entre Módulos 2 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Nível 1: Ferramentas para o 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Para quem não programa e não quer programar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3600000" cy="3888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3600000" cy="57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296000"/>
            <a:ext cx="34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ChatGPT na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584000"/>
            <a:ext cx="34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00"/>
                </a:solidFill>
                <a:latin typeface="Calibri"/>
              </a:rPr>
              <a:t>chatgpt.com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90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Análise de planilhas diretamente pelo navegador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226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Geração de gráficos automáticos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62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Resumos de documentos longos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298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Resposta em segundos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2000" y="1260000"/>
            <a:ext cx="3600000" cy="3888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2000" y="1260000"/>
            <a:ext cx="3600000" cy="576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4000" y="1296000"/>
            <a:ext cx="34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Google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4000" y="1584000"/>
            <a:ext cx="34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00"/>
                </a:solidFill>
                <a:latin typeface="Calibri"/>
              </a:rPr>
              <a:t>gemini.google.com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0000" y="190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Integrado ao Google Drive e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0000" y="226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Análise de Sheets sem sair do Google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0000" y="262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Multimodal: texto, imagem e áudio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0000" y="298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Gratuito com conta Google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6000" y="1260000"/>
            <a:ext cx="3600000" cy="3888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6000" y="1260000"/>
            <a:ext cx="3600000" cy="576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000" y="1296000"/>
            <a:ext cx="34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Microsoft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000" y="1584000"/>
            <a:ext cx="34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00"/>
                </a:solidFill>
                <a:latin typeface="Calibri"/>
              </a:rPr>
              <a:t>copilot.microsoft.com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4000" y="190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Integrado ao Office 365 (Excel, Word, PPT)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4000" y="226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Análise de dados no próprio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4000" y="262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Geração de apresentações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4000" y="2988000"/>
            <a:ext cx="33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55"/>
                </a:solidFill>
                <a:latin typeface="Calibri"/>
              </a:rPr>
              <a:t>✓ Disponível em ambientes corporativos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5292000"/>
            <a:ext cx="11520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5328000"/>
            <a:ext cx="115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CASO DE USO:  Cole uma tabela → peça análise → receba gráfico em 30 segundos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Nível 2: Ferramentas para Automação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Para quem quer automatizar sem saber programar de verdade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144000" cy="864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29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VS Code + GitHub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584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Editor de código gratuito com IA integrada. Sugere código linha a linha enquanto você escreve em linguagem natural.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232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232000"/>
            <a:ext cx="144000" cy="864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26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Cursor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56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IDE focada em IA. Toda a interface foi redesenhada para geração de código por conversa. O mais popular entre analistas de dados que estão começando.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204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3204000"/>
            <a:ext cx="144000" cy="864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24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JetBrains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528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Suite profissional (PyCharm, DataSpell) com IA para Python e análise de dados. Ideal para ambientes corporativos.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248000"/>
            <a:ext cx="11520000" cy="648000"/>
          </a:xfrm>
          <a:prstGeom prst="rect">
            <a:avLst/>
          </a:prstGeom>
          <a:solidFill>
            <a:srgbClr val="FFF8E1"/>
          </a:solidFill>
          <a:ln w="127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284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Diferencial: Você descreve o que quer em português → IA escreve o código em Python
Aprendizado implícito: você absorve programação naturalmente vendo a IA trabalhar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Nível 3: IA para Projetos Completos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Para pipelines de análise de dados end-to-end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144000" cy="86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29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Claude Code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584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Agente de IA autônomo em linha de comando. Lê e escreve arquivos, executa código, cria sistemas completos a partir de uma descrição em texto.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232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232000"/>
            <a:ext cx="144000" cy="86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26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Aider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56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Assistente de programação em terminal. Conecta ao seu repositório Git e implementa funcionalidades completas com um único comando.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204000"/>
            <a:ext cx="11520000" cy="86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3204000"/>
            <a:ext cx="144000" cy="86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24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Devin (Cognition 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528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Primeiro agente de software autônomo. Planeja, pesquisa, codifica, testa e implanta — sem supervisão constante.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248000"/>
            <a:ext cx="11520000" cy="72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284000"/>
            <a:ext cx="113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★  ESTE PROJETO foi construído inteiramente com Claude Code
   7 notebooks Python, interface web FastAPI, relatório Word de 100+ páginas — zero linha de código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Escolhendo a Ferramenta Certa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A ferramenta certa para cada nível de complexidade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3420000" cy="612000"/>
          </a:xfrm>
          <a:prstGeom prst="rect">
            <a:avLst/>
          </a:prstGeom>
          <a:solidFill>
            <a:srgbClr val="00388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332000"/>
            <a:ext cx="32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Cenário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8000" y="1260000"/>
            <a:ext cx="3960000" cy="612000"/>
          </a:xfrm>
          <a:prstGeom prst="rect">
            <a:avLst/>
          </a:prstGeom>
          <a:solidFill>
            <a:srgbClr val="00388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0" y="1332000"/>
            <a:ext cx="38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Ferramenta Recomendada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8000" y="1260000"/>
            <a:ext cx="4248000" cy="612000"/>
          </a:xfrm>
          <a:prstGeom prst="rect">
            <a:avLst/>
          </a:prstGeom>
          <a:solidFill>
            <a:srgbClr val="00388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0000" y="1332000"/>
            <a:ext cx="410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Exemplo Prático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872000"/>
            <a:ext cx="34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1926000"/>
            <a:ext cx="32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Análise rápida, dado pronto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8000" y="1872000"/>
            <a:ext cx="396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0000" y="1926000"/>
            <a:ext cx="381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3886"/>
                </a:solidFill>
                <a:latin typeface="Calibri"/>
              </a:rPr>
              <a:t>ChatGPT web / Gemini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8000" y="1872000"/>
            <a:ext cx="4248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0000" y="1926000"/>
            <a:ext cx="41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Colar planilha e pedir gráfico de série temporal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2484000"/>
            <a:ext cx="34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538000"/>
            <a:ext cx="32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Script repetitivo, simples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8000" y="2484000"/>
            <a:ext cx="396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0000" y="2538000"/>
            <a:ext cx="381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3886"/>
                </a:solidFill>
                <a:latin typeface="Calibri"/>
              </a:rPr>
              <a:t>GitHub Copilot / Cursor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8000" y="2484000"/>
            <a:ext cx="4248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0000" y="2538000"/>
            <a:ext cx="41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Criar rotina de limpeza de dados em Excel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3096000"/>
            <a:ext cx="34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150000"/>
            <a:ext cx="32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Pipeline completo, projeto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8000" y="3096000"/>
            <a:ext cx="396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0000" y="3150000"/>
            <a:ext cx="381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3886"/>
                </a:solidFill>
                <a:latin typeface="Calibri"/>
              </a:rPr>
              <a:t>Claude Code / Aider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68000" y="3096000"/>
            <a:ext cx="4248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0000" y="3150000"/>
            <a:ext cx="41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Sistema de auditoria automatizada com relatório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3708000"/>
            <a:ext cx="34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762000"/>
            <a:ext cx="32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Documentos técnicos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8000" y="3708000"/>
            <a:ext cx="396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0000" y="3762000"/>
            <a:ext cx="381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3886"/>
                </a:solidFill>
                <a:latin typeface="Calibri"/>
              </a:rPr>
              <a:t>NotebookLM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68000" y="3708000"/>
            <a:ext cx="4248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0000" y="3762000"/>
            <a:ext cx="41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Consultar normas GUM e apostila do curso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" y="4320000"/>
            <a:ext cx="34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000" y="4374000"/>
            <a:ext cx="32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Imagens e apresentações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8000" y="4320000"/>
            <a:ext cx="396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0000" y="4374000"/>
            <a:ext cx="381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3886"/>
                </a:solidFill>
                <a:latin typeface="Calibri"/>
              </a:rPr>
              <a:t>ChatGPT / Copilot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68000" y="4320000"/>
            <a:ext cx="4248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0000" y="4374000"/>
            <a:ext cx="4104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Gerar diagrama a partir de texto descritivo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" y="5076000"/>
            <a:ext cx="11628000" cy="36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000" y="5112000"/>
            <a:ext cx="1148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Princípio: comece com a ferramenta mais simples que resolve o seu problema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DEMO AO VIVO — ChatGPT + Planilha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Módulo 1 • Demo 1 de 4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solidFill>
            <a:srgbClr val="FFD700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03000"/>
                </a:solidFill>
                <a:latin typeface="Calibri"/>
              </a:rPr>
              <a:t>★ DEMO AO VIVO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656000"/>
            <a:ext cx="432000" cy="432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65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1656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Acessar chatgpt.com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1890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Abrir o navegador e fazer login na conta ChatGPT (gratuita)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322000"/>
            <a:ext cx="432000" cy="432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2322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2322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Fazer upload da planilha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2556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Clicar no ícone de clipe → selecionar aba da planilha do Distrito de Gás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2988000"/>
            <a:ext cx="432000" cy="432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2988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999" y="298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Digitar o pedido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999" y="322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"Faça uma análise exploratória desta tabela e gere um gráfico de série temporal do volume diário"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3654000"/>
            <a:ext cx="432000" cy="432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" y="3654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99" y="3654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Aguardar e interpretar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" y="3888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Em ~30 segundos: estatísticas descritivas + gráfico interativo + insights automáticos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4428000"/>
            <a:ext cx="11520000" cy="3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464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Dados utilizados: Planilha Distrito de Gás — 183 dias de medições (14 abas, clientes residenciais e industriais)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IBM Data Science Methodology +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O ciclo completo de ciência de dados — acelerado por IA em cada etapa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pic>
        <p:nvPicPr>
          <p:cNvPr id="8" name="Picture 7" descr="WhatsApp Image 2026-02-12 at 10.32.4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600" y="1224000"/>
            <a:ext cx="4680000" cy="527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0000" y="1404000"/>
            <a:ext cx="270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" y="1440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Entendimento
do Negócio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" y="1800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NotebookLM
+ apostila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484000"/>
            <a:ext cx="270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520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Coleta
dos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" y="2880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Web scraping
com Claude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564000"/>
            <a:ext cx="270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000" y="3600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Preparação
dos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" y="3960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IA gera código
Python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3200" y="1404000"/>
            <a:ext cx="306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5200" y="14400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Criação
do Modelo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5200" y="1800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IA lê metodologia
técnica GUM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3200" y="2484000"/>
            <a:ext cx="306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5200" y="25200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5200" y="2880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Validação
automática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3200" y="3564000"/>
            <a:ext cx="3060000" cy="90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5200" y="36000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886"/>
                </a:solidFill>
                <a:latin typeface="Calibri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200" y="3960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Pipeline FastAPI
automático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Etapa 1: Entendimento do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IBM Data Science Methodology • Passo 1 de 7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79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DESAFIO: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5660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Como entender a metodologia GUM de incertezas sem ler 200 páginas de norma técnica?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2232000"/>
            <a:ext cx="115200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2250000"/>
            <a:ext cx="11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SOLUÇÃO: NotebookLM — carregue a apostila e faça perguntas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628000"/>
            <a:ext cx="216000" cy="28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" y="2628000"/>
            <a:ext cx="11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Acesse notebooklm.google.com (gratuito com conta Google)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3006000"/>
            <a:ext cx="216000" cy="28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3006000"/>
            <a:ext cx="11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Carregue a apostila do Prof. Barateiro como fonte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384000"/>
            <a:ext cx="216000" cy="28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3384000"/>
            <a:ext cx="11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Faça perguntas técnicas em linguagem natural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3762000"/>
            <a:ext cx="216000" cy="28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3762000"/>
            <a:ext cx="11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NotebookLM responde com citação exata da página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4212000"/>
            <a:ext cx="11520000" cy="23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4230000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Exemplo de pergunta ao vivo: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4518000"/>
            <a:ext cx="11520000" cy="54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4554000"/>
            <a:ext cx="112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886"/>
                </a:solidFill>
                <a:latin typeface="Calibri"/>
              </a:rPr>
              <a:t>"Qual é a equação de incerteza combinada do tipo A segundo a norma GUM?"
"Quais são os requisitos de medição fiscal em dutos offshore?"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5166000"/>
            <a:ext cx="11520000" cy="324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5202000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Resultado: o regulador consulta em segundos, sem precisar ler o documento completo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Etapa 2: Coleta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IBM Data Science Methodology • Passo 2 de 7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64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9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CENÁRIO REAL: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548000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Dados da ANP, ANEEL e distribuidoras — espalhados em dezenas de páginas na 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2087999"/>
            <a:ext cx="5580000" cy="198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00" y="2087999"/>
            <a:ext cx="5580000" cy="324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2105999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ANTES (sem 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483999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0000"/>
                </a:solidFill>
                <a:latin typeface="Calibri"/>
              </a:rPr>
              <a:t>✗ Copiar/colar manualmente de cada página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2789999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0000"/>
                </a:solidFill>
                <a:latin typeface="Calibri"/>
              </a:rPr>
              <a:t>✗ Horas ou dias de trabalho repetitivo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3095999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0000"/>
                </a:solidFill>
                <a:latin typeface="Calibri"/>
              </a:rPr>
              <a:t>✗ Erros de transcrição frequentes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" y="3401999"/>
            <a:ext cx="536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0000"/>
                </a:solidFill>
                <a:latin typeface="Calibri"/>
              </a:rPr>
              <a:t>✗ Difícil de automatizar e repetir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2000" y="2087999"/>
            <a:ext cx="5580000" cy="1980000"/>
          </a:xfrm>
          <a:prstGeom prst="rect">
            <a:avLst/>
          </a:prstGeom>
          <a:solidFill>
            <a:srgbClr val="F0FFF4"/>
          </a:solidFill>
          <a:ln w="1270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2000" y="2087999"/>
            <a:ext cx="5580000" cy="324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8000" y="2105999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DEPOIS (com Claude Code)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4000" y="2483999"/>
            <a:ext cx="54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030"/>
                </a:solidFill>
                <a:latin typeface="Calibri"/>
              </a:rPr>
              <a:t>✓ "Me colete dados mensais de gás da ANP dos últimos 12 meses"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4000" y="2789999"/>
            <a:ext cx="54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030"/>
                </a:solidFill>
                <a:latin typeface="Calibri"/>
              </a:rPr>
              <a:t>✓ Claude escreve o script → executa → retorna CSV organizado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4000" y="3095999"/>
            <a:ext cx="54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030"/>
                </a:solidFill>
                <a:latin typeface="Calibri"/>
              </a:rPr>
              <a:t>✓ Tempo: minutos, não 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4000" y="3401999"/>
            <a:ext cx="54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030"/>
                </a:solidFill>
                <a:latin typeface="Calibri"/>
              </a:rPr>
              <a:t>✓ Script reutilizável para execuções futuras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4175999"/>
            <a:ext cx="11520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4211999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Técnica: Firecrawl API + Claude Code = web scraping inteligente com compreensão de contexto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Etapas 3-4: Limpeza e Preparação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IBM Data Science Methodology • Passos 3-4 de 7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pic>
        <p:nvPicPr>
          <p:cNvPr id="8" name="Picture 7" descr="benchmark_epoch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260000"/>
            <a:ext cx="4320000" cy="360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88000" y="1260000"/>
            <a:ext cx="7020000" cy="720000"/>
          </a:xfrm>
          <a:prstGeom prst="rect">
            <a:avLst/>
          </a:prstGeom>
          <a:solidFill>
            <a:srgbClr val="FFF5E0"/>
          </a:solidFill>
          <a:ln w="127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296000"/>
            <a:ext cx="68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D00"/>
                </a:solidFill>
                <a:latin typeface="Calibri"/>
              </a:rPr>
              <a:t>PROBLEMA REAL: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530000"/>
            <a:ext cx="68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Planilha Excel com 14 abas, 183 dias, dados inconsistentes em unidades e formatação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60000"/>
            <a:ext cx="70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178000"/>
            <a:ext cx="68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PROMPT PARA O CLAUDE CODE: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430000"/>
            <a:ext cx="7020000" cy="1007999"/>
          </a:xfrm>
          <a:prstGeom prst="rect">
            <a:avLst/>
          </a:prstGeom>
          <a:solidFill>
            <a:srgbClr val="F5F5FF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2466000"/>
            <a:ext cx="68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"Leia a planilha Excel de medições do Distrito, identifique valores ausentes, normalize as unidades (Mm³ e kcal/m³), remova outliers acima de 3 desvios padrão, e crie um DataFrame limpo exportado como CSV."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582000"/>
            <a:ext cx="180000" cy="27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3582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Código Python gerado automaticamente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3924000"/>
            <a:ext cx="180000" cy="27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924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183 dias de dados limpos e consistentes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266000"/>
            <a:ext cx="180000" cy="27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4266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Unidades normalizadas para análise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608000"/>
            <a:ext cx="180000" cy="27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4608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Valores ausentes imputados com média móvel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Etapa 5: Criação do Modelo — IA como Especialista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IBM Data Science Methodology • Passo 5 de 7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64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314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INOVAÇÃO CENTRAL: E se a IA pudesse ler a apostila do Prof. Barateiro e aplicar a metodologia automaticamente?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7999"/>
            <a:ext cx="2592000" cy="126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2087999"/>
            <a:ext cx="2592000" cy="28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2105999"/>
            <a:ext cx="2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Apostila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447999"/>
            <a:ext cx="24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55"/>
                </a:solidFill>
                <a:latin typeface="Calibri"/>
              </a:rPr>
              <a:t>Arquivo do curso
como fonte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000" y="2609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4000" y="2087999"/>
            <a:ext cx="2592000" cy="126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14000" y="2087999"/>
            <a:ext cx="2592000" cy="28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0000" y="2105999"/>
            <a:ext cx="2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Gemini extrai
equações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6000" y="2447999"/>
            <a:ext cx="24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55"/>
                </a:solidFill>
                <a:latin typeface="Calibri"/>
              </a:rPr>
              <a:t>gemini-2.5-flash
lê e interpreta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000" y="2609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0000" y="2087999"/>
            <a:ext cx="2592000" cy="126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0000" y="2087999"/>
            <a:ext cx="2592000" cy="288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6000" y="2105999"/>
            <a:ext cx="2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
implementa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2000" y="2447999"/>
            <a:ext cx="24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55"/>
                </a:solidFill>
                <a:latin typeface="Calibri"/>
              </a:rPr>
              <a:t>Código gerado
automaticamente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8000" y="2609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6000" y="2087999"/>
            <a:ext cx="2592000" cy="126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66000" y="2087999"/>
            <a:ext cx="2592000" cy="288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2000" y="2105999"/>
            <a:ext cx="2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Resultados
validados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8000" y="2447999"/>
            <a:ext cx="24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55"/>
                </a:solidFill>
                <a:latin typeface="Calibri"/>
              </a:rPr>
              <a:t>183 dias
calculados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3635999"/>
            <a:ext cx="11520000" cy="3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671999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886"/>
                </a:solidFill>
                <a:latin typeface="Calibri"/>
              </a:rPr>
              <a:t>Arquivo: extrair_metodologia.py — extrai 7 seções de metodologia da apostila em formato Markdown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4175999"/>
            <a:ext cx="11520000" cy="36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4211999"/>
            <a:ext cx="11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A metodologia GUM foi extraída automaticamente da apostila — sem digitar uma única equação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Notebook 6: Incertezas de Medição (GUM) com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Propagação de incerteza para 183 dias de dados de gás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78000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Equação de Incerteza Combinada (GUM — extraída automaticamente da apostila):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566000"/>
            <a:ext cx="11520000" cy="720000"/>
          </a:xfrm>
          <a:prstGeom prst="rect">
            <a:avLst/>
          </a:prstGeom>
          <a:solidFill>
            <a:srgbClr val="F8F8FF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0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886"/>
                </a:solidFill>
                <a:latin typeface="Calibri"/>
              </a:rPr>
              <a:t>uc(y) = √[Σᵢ (∂f/∂xᵢ)² · u²(xᵢ)]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466000"/>
            <a:ext cx="1980000" cy="54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000" y="2502000"/>
            <a:ext cx="194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Componentes calculadas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000" y="2466000"/>
            <a:ext cx="9504000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000" y="250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Incerteza tipo A (estatística, n=183 dias) e tipo B (calibração, resolução, temperatura)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096000"/>
            <a:ext cx="1980000" cy="54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00" y="3132000"/>
            <a:ext cx="194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Grandezas de entrada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000" y="3096000"/>
            <a:ext cx="9504000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2000" y="313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Volume bruto, Poder Calorífico Superior (PCS), pressão, temperatura e fator de compressibilidade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3726000"/>
            <a:ext cx="1980000" cy="54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000" y="3762000"/>
            <a:ext cx="194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000" y="3726000"/>
            <a:ext cx="9504000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2000" y="376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Incerteza expandida U = k · uc(y) para cada dia, com fator de abrangência k=2 (95% de confiança)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4356000"/>
            <a:ext cx="1980000" cy="54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000" y="4392000"/>
            <a:ext cx="194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Automação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4000" y="4356000"/>
            <a:ext cx="9504000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2000" y="439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IA aplicou as equações da apostila em código Python para todos os 183 dias simultaneamente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5058000"/>
            <a:ext cx="11520000" cy="324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5094000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 que levaria dias de planilha → 2 minutos de código gerado por 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Notebook 7: Balanço de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Verificação automática de consistência para 183 dias de operação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68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96000"/>
            <a:ext cx="11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CONCEITO DE BALANÇO DE MASSA: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548000"/>
            <a:ext cx="113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1BF"/>
                </a:solidFill>
                <a:latin typeface="Calibri"/>
              </a:rPr>
              <a:t>Volume entrada = Σ(volumes saída por cliente) ± incerteza de medição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2160000"/>
            <a:ext cx="2088000" cy="57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2196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Leitura dos dados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2160000"/>
            <a:ext cx="9396000" cy="57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0000" y="2196000"/>
            <a:ext cx="92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Leu volumes de entrada e todos os clientes (residencial, comercial, industrial, GNC) para cada um dos 183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826000"/>
            <a:ext cx="2088000" cy="57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" y="2862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Verificação automática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2000" y="2826000"/>
            <a:ext cx="9396000" cy="57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0000" y="2862000"/>
            <a:ext cx="92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Calculou o erro de balanço diário = [(Entrada - Σ Saídas) / Entrada] ×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3492000"/>
            <a:ext cx="2088000" cy="57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" y="3528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Alertas inteligentes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2000" y="3492000"/>
            <a:ext cx="9396000" cy="57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0000" y="3528000"/>
            <a:ext cx="92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Identificou automaticamente dias com desvio &gt; 2% (limite aceitável segundo norma)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4158000"/>
            <a:ext cx="2088000" cy="57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000" y="4194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12000" y="4158000"/>
            <a:ext cx="9396000" cy="57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0000" y="4194000"/>
            <a:ext cx="92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IA gerou texto explicativo para cada dia fora do limite — causa provável e recomendações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4896000"/>
            <a:ext cx="11520000" cy="396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4932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Conexão: mesmo verificador que o Prof. Barateiro apresentou nos Blocos 1-4 — agora automatizado para execução contínua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Etapas 6-7: Avaliação 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IBM Data Science Methodology • Passos 6-7 de 7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980000" cy="90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144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Excel
2,1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02000"/>
            <a:ext cx="23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9999" y="1260000"/>
            <a:ext cx="1980000" cy="900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5999" y="144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 Notebooks
Jupyter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999" y="1602000"/>
            <a:ext cx="23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1998" y="1260000"/>
            <a:ext cx="1980000" cy="90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7998" y="144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 chamadas
Gemini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9998" y="1602000"/>
            <a:ext cx="23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83997" y="1260000"/>
            <a:ext cx="1980000" cy="90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9997" y="144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23 gráficos
gerados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1997" y="1602000"/>
            <a:ext cx="23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5996" y="1260000"/>
            <a:ext cx="1980000" cy="90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1996" y="144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Relatório Word
8,9 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2376000"/>
            <a:ext cx="11520000" cy="72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2412000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D8E0"/>
                </a:solidFill>
                <a:latin typeface="Calibri"/>
              </a:rPr>
              <a:t>TEMPO TOTAL DE EXECUÇÃO: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2682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  <a:latin typeface="Calibri"/>
              </a:rPr>
              <a:t>1 minuto e 42 segundos  (execução paralela com 28 threads)</a:t>
            </a:r>
          </a:p>
        </p:txBody>
      </p:sp>
      <p:pic>
        <p:nvPicPr>
          <p:cNvPr id="25" name="Picture 24" descr="06_web_downlo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312000"/>
            <a:ext cx="6480000" cy="2880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200000" y="3312000"/>
            <a:ext cx="2340000" cy="12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2000" y="3384000"/>
            <a:ext cx="21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3886"/>
                </a:solidFill>
                <a:latin typeface="Calibri"/>
              </a:rPr>
              <a:t>8,9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2000" y="3888000"/>
            <a:ext cx="219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Tamanho do
relatório final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65999" y="3312000"/>
            <a:ext cx="2340000" cy="12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7999" y="3384000"/>
            <a:ext cx="21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3886"/>
                </a:solidFill>
                <a:latin typeface="Calibri"/>
              </a:rPr>
              <a:t>100+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7999" y="3888000"/>
            <a:ext cx="219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Páginas no
documento 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0" y="4697999"/>
            <a:ext cx="2340000" cy="12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2000" y="4769999"/>
            <a:ext cx="21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3886"/>
                </a:solidFill>
                <a:latin typeface="Calibri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2000" y="5273999"/>
            <a:ext cx="219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Gráficos
incorporados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65999" y="4697999"/>
            <a:ext cx="2340000" cy="126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7999" y="4769999"/>
            <a:ext cx="21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3886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7999" y="5273999"/>
            <a:ext cx="219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Diagramas
gerados por 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DEMO AO VIVO — Os 7 Notebooks Jupyter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Módulo 3 • Demo 2 de 4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solidFill>
            <a:srgbClr val="FFD700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03000"/>
                </a:solidFill>
                <a:latin typeface="Calibri"/>
              </a:rPr>
              <a:t>★ DEMO AO VIVO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656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65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165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Leitura e Exploração do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183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Carrega todas as 14 abas, exibe estatísticas básicas e valida integridade dos 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106000"/>
            <a:ext cx="432000" cy="360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210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210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Análise de Volumes de Entrada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228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Série temporal do volume diário no ponto de entrada do Distrito, tendências e sazonalidade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2556000"/>
            <a:ext cx="432000" cy="36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255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999" y="255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Análise de PCS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999" y="273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Poder Calorífico Superior diário, variação por componente e comparação com limites normativos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3006000"/>
            <a:ext cx="432000" cy="36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" y="300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999" y="300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Cálculo de Energia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" y="318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Energia por cliente (Volume × PCS), ranking de consumo e perfil mensal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3456000"/>
            <a:ext cx="432000" cy="36000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345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999" y="345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Perfis de Consumo por 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363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Análise segmentada por categoria: residencial, comercial, industrial e GNC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3906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390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999" y="390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Incertezas de Medição (GUM)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999" y="408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Propagação de incerteza tipo A+B para cada grandeza, conforme apostila do Prof. Barateiro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4356000"/>
            <a:ext cx="432000" cy="36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" y="435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999" y="435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Balanço de Massa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999" y="4536000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Verificação Entrada = Σ Saídas, alertas de desvio e diagnóstico automático por 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" y="4878000"/>
            <a:ext cx="11520000" cy="32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000" y="4914000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★  Nenhum notebook foi escrito manualmente — todos gerados e refinados com Claude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Arquitetura: Do Excel ao Relatório em 1:42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Visão completa do pipeline de auditoria automatizada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620000" cy="64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1368000"/>
            <a:ext cx="15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Excel
14 abas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4000" y="1440000"/>
            <a:ext cx="16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8000" y="1260000"/>
            <a:ext cx="1620000" cy="64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4000" y="1368000"/>
            <a:ext cx="15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Notebooks
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4000" y="1440000"/>
            <a:ext cx="16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8000" y="1260000"/>
            <a:ext cx="1620000" cy="648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4000" y="1368000"/>
            <a:ext cx="15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23 Gráficos
Matplotlib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267999"/>
            <a:ext cx="1620000" cy="6480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" y="2375999"/>
            <a:ext cx="15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Apostila
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4000" y="2447999"/>
            <a:ext cx="16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88000" y="2267999"/>
            <a:ext cx="1980000" cy="64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4000" y="2375999"/>
            <a:ext cx="19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Gemini AI
extrai metodologia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4000" y="2447999"/>
            <a:ext cx="16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886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8000" y="2267999"/>
            <a:ext cx="1620000" cy="648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4000" y="2375999"/>
            <a:ext cx="15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28 seções
.md geradas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190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86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2915999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886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20000" y="3275999"/>
            <a:ext cx="3240000" cy="72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5999" y="3311999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DOCX 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5999" y="3599999"/>
            <a:ext cx="31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Relatório Word 8,9 MB
100+ páginas</a:t>
            </a:r>
          </a:p>
        </p:txBody>
      </p:sp>
      <p:pic>
        <p:nvPicPr>
          <p:cNvPr id="29" name="Picture 28" descr="processo_anal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0" y="1260000"/>
            <a:ext cx="522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DEMO AO VIVO — Interface Web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Módulo 3 • Demo 3 de 4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solidFill>
            <a:srgbClr val="FFD700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03000"/>
                </a:solidFill>
                <a:latin typeface="Calibri"/>
              </a:rPr>
              <a:t>★ DEMO AO VIVO</a:t>
            </a:r>
          </a:p>
        </p:txBody>
      </p:sp>
      <p:pic>
        <p:nvPicPr>
          <p:cNvPr id="10" name="Picture 9" descr="01_web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9" y="1620000"/>
            <a:ext cx="3744000" cy="234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1999" y="374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999" y="376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01 Configuração</a:t>
            </a:r>
          </a:p>
        </p:txBody>
      </p:sp>
      <p:pic>
        <p:nvPicPr>
          <p:cNvPr id="13" name="Picture 12" descr="02_web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999" y="1620000"/>
            <a:ext cx="3744000" cy="234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75999" y="374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1999" y="376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02 Pipeline</a:t>
            </a:r>
          </a:p>
        </p:txBody>
      </p:sp>
      <p:pic>
        <p:nvPicPr>
          <p:cNvPr id="16" name="Picture 15" descr="03_web_grafic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999" y="1620000"/>
            <a:ext cx="3744000" cy="234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99999" y="374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5999" y="376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03 Gráficos</a:t>
            </a:r>
          </a:p>
        </p:txBody>
      </p:sp>
      <p:pic>
        <p:nvPicPr>
          <p:cNvPr id="19" name="Picture 18" descr="04_web_diagram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999" y="4140000"/>
            <a:ext cx="3744000" cy="2340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1999" y="626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999" y="628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04 Diagramas</a:t>
            </a:r>
          </a:p>
        </p:txBody>
      </p:sp>
      <p:pic>
        <p:nvPicPr>
          <p:cNvPr id="22" name="Picture 21" descr="05_web_text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999" y="4140000"/>
            <a:ext cx="3744000" cy="2340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75999" y="626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1999" y="628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05 Textos LLM</a:t>
            </a:r>
          </a:p>
        </p:txBody>
      </p:sp>
      <p:pic>
        <p:nvPicPr>
          <p:cNvPr id="25" name="Picture 24" descr="06_web_download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9999" y="4140000"/>
            <a:ext cx="3744000" cy="2340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99999" y="6264000"/>
            <a:ext cx="3744000" cy="2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5999" y="6282000"/>
            <a:ext cx="36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06 Downloads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999" y="6138000"/>
            <a:ext cx="11592000" cy="28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000" y="6156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Roteiro: Upload da planilha → progresso em tempo real → visualizar gráficos → baixar relatório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 Resultado: Relatório de Auditoria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Output final do sistema — pronto para entrega ao regulador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60000"/>
            <a:ext cx="1800000" cy="14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3886"/>
                </a:solidFill>
                <a:latin typeface="Calibri"/>
              </a:rPr>
              <a:t>8,9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Relatório gerado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3999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13999" y="1260000"/>
            <a:ext cx="1800000" cy="144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999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81BF"/>
                </a:solidFill>
                <a:latin typeface="Calibri"/>
              </a:rPr>
              <a:t>100+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999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Páginas totais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9998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9998" y="1260000"/>
            <a:ext cx="1800000" cy="144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5998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8A4B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5998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Capítulos técnicos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997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5997" y="1260000"/>
            <a:ext cx="1800000" cy="144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1997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6D00"/>
                </a:solidFill>
                <a:latin typeface="Calibri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1997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Gráficos gerados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1996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8B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996" y="1260000"/>
            <a:ext cx="1800000" cy="14400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7996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B008B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7996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Diagramas por 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17995" y="1260000"/>
            <a:ext cx="1800000" cy="144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17995" y="1260000"/>
            <a:ext cx="1800000" cy="1440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3995" y="144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C3300"/>
                </a:solidFill>
                <a:latin typeface="Calibri"/>
              </a:rPr>
              <a:t>1:42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3995" y="2160000"/>
            <a:ext cx="17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55"/>
                </a:solidFill>
                <a:latin typeface="Calibri"/>
              </a:rPr>
              <a:t>Tempo de geração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2951999"/>
            <a:ext cx="115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2969999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Estrutura do relatório: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00" y="3257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Cap. 1: Análise de Volumes de Entrada  |  Cap. 2: Poder Calorífico Superior (PCS)  |  Cap. 3: Energia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" y="3563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Cap. 4: Perfis de Consumo por Cliente  |  Cap. 5: Incertezas de Medição (GUM)  |  Cap. 6: Balanço de Massa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00" y="3869999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Cap. 7: Conclusões e Recomendações  |  Apêndice A: Metodologia  |  Apêndice B: Código Python dos 7 Notebooks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4247999"/>
            <a:ext cx="11520000" cy="324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4283999"/>
            <a:ext cx="11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Mesmo conteúdo que levaria semanas de análise manual — gerado em 1 minuto e 42 segundos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 Mesmo Trabalho — Perspectivas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Análise complementar: conhecimento especializado + automação por IA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2520000" cy="612000"/>
          </a:xfrm>
          <a:prstGeom prst="rect">
            <a:avLst/>
          </a:prstGeom>
          <a:solidFill>
            <a:srgbClr val="00388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332000"/>
            <a:ext cx="23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Aspecto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8000" y="1260000"/>
            <a:ext cx="4320000" cy="612000"/>
          </a:xfrm>
          <a:prstGeom prst="rect">
            <a:avLst/>
          </a:prstGeom>
          <a:solidFill>
            <a:srgbClr val="0081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0" y="1332000"/>
            <a:ext cx="41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Prof. Barateiro (Blocos 1-4)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28000" y="1260000"/>
            <a:ext cx="4500000" cy="612000"/>
          </a:xfrm>
          <a:prstGeom prst="rect">
            <a:avLst/>
          </a:prstGeom>
          <a:solidFill>
            <a:srgbClr val="008A4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1332000"/>
            <a:ext cx="43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Este Sistema (Bloco 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872000"/>
            <a:ext cx="25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1926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Dados de entrada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8000" y="1872000"/>
            <a:ext cx="43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0" y="1926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Planilha Excel — análise manual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28000" y="1872000"/>
            <a:ext cx="450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0" y="1926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Planilha Excel — leitura automatizada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2484000"/>
            <a:ext cx="25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538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Metodologia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8000" y="2484000"/>
            <a:ext cx="43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0" y="2538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GUM, normas ABNT (domínio especializado)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28000" y="2484000"/>
            <a:ext cx="450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0" y="2538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GUM extraída por Gemini da própria apostila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3096000"/>
            <a:ext cx="25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150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Resultado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8000" y="3096000"/>
            <a:ext cx="43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0" y="3150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Análise especializada e aprofundada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28000" y="3096000"/>
            <a:ext cx="450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0" y="3150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Relatório de 100+ páginas em 1:42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3708000"/>
            <a:ext cx="25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762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Programação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0" y="3708000"/>
            <a:ext cx="43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0" y="3762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Especialistas em Python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28000" y="3708000"/>
            <a:ext cx="450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0" y="3762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Zero linha de Python manual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" y="4320000"/>
            <a:ext cx="25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000" y="4374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Interpretação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0" y="4320000"/>
            <a:ext cx="432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000" y="4374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Especialista humano — contexto e julgamento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28000" y="4320000"/>
            <a:ext cx="4500000" cy="61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0000" y="4374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IA gera texto técnico — revisão humana necessária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" y="4932000"/>
            <a:ext cx="25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000" y="4986000"/>
            <a:ext cx="23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886"/>
                </a:solidFill>
                <a:latin typeface="Calibri"/>
              </a:rPr>
              <a:t>Escalabilidade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0" y="4932000"/>
            <a:ext cx="432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0" y="4986000"/>
            <a:ext cx="41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Limitada — requer tempo especializado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28000" y="4932000"/>
            <a:ext cx="4500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0000" y="4986000"/>
            <a:ext cx="43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55"/>
                </a:solidFill>
                <a:latin typeface="Calibri"/>
              </a:rPr>
              <a:t>Automático — re-executa em qualquer base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00" y="5688000"/>
            <a:ext cx="11340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000" y="5724000"/>
            <a:ext cx="112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Complementar, não concorrente — a IA amplifica o conhecimento técnico do especialista humano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Indo Além: Dashboard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Com IA, criar um dashboard não requer mais saber programar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pic>
        <p:nvPicPr>
          <p:cNvPr id="8" name="Picture 7" descr="03_web_graf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260000"/>
            <a:ext cx="4968000" cy="34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88000" y="1260000"/>
            <a:ext cx="1260000" cy="68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0" y="1332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000" y="1656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700"/>
                </a:solidFill>
                <a:latin typeface="Calibri"/>
              </a:rPr>
              <a:t>streamlit.io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4000" y="1260000"/>
            <a:ext cx="5220000" cy="68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999" y="1332000"/>
            <a:ext cx="51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App Python simples, deploy gratuito em minutos. Ideal para protótipos e projetos internos.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052000"/>
            <a:ext cx="1260000" cy="68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00" y="212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+ 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2448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700"/>
                </a:solidFill>
                <a:latin typeface="Calibri"/>
              </a:rPr>
              <a:t>fastapi.tiangolo.com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000" y="2052000"/>
            <a:ext cx="5220000" cy="68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5999" y="2124000"/>
            <a:ext cx="51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Como o sistema demonstrado hoje. Alta performance, interface customizável.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2844000"/>
            <a:ext cx="1260000" cy="68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00" y="2916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Google Looker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00" y="3240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700"/>
                </a:solidFill>
                <a:latin typeface="Calibri"/>
              </a:rPr>
              <a:t>lookerstudio.google.com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000" y="2844000"/>
            <a:ext cx="5220000" cy="68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5999" y="2916000"/>
            <a:ext cx="51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Totalmente sem código. Conecta diretamente ao Excel ou Google Sheets. Gratuito.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3636000"/>
            <a:ext cx="1260000" cy="68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000" y="3708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Power BI / Tableau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0" y="40320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700"/>
                </a:solidFill>
                <a:latin typeface="Calibri"/>
              </a:rPr>
              <a:t>powerbi.com / tableau.com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84000" y="3636000"/>
            <a:ext cx="5220000" cy="68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5999" y="3708000"/>
            <a:ext cx="51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Para ambientes corporativos. Integração com sistemas legados e ERP.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4500000"/>
            <a:ext cx="6480000" cy="360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4536000"/>
            <a:ext cx="64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 IA: descreva o dashboard → IA escreve o código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E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DEMO AO VIVO — NotebookLM: Leve a Apostila para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Módulo 4 • Demo 4 de 4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solidFill>
            <a:srgbClr val="FFD700"/>
          </a:solidFill>
          <a:ln w="25400">
            <a:solidFill>
              <a:srgbClr val="E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1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03000"/>
                </a:solidFill>
                <a:latin typeface="Calibri"/>
              </a:rPr>
              <a:t>★ DEMO AO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656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886"/>
                </a:solidFill>
                <a:latin typeface="Calibri"/>
              </a:rPr>
              <a:t>INSTRUCOES PARA OS ALUNOS: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944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194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1944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Acesse notebooklm.google.com — faça login com conta Google (gratuito)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412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241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2412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Clique em 'Criar novo notebook'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880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288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999" y="2880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Clique em 'Adicionar fontes' → faça upload da apostila do Prof. Barateiro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3348000"/>
            <a:ext cx="432000" cy="36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334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999" y="3348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Faça perguntas técnicas em linguagem natural no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3888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886"/>
                </a:solidFill>
                <a:latin typeface="Calibri"/>
              </a:rPr>
              <a:t>EXEMPLOS DE PERGUNTAS TECNICAS: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4176000"/>
            <a:ext cx="11520000" cy="34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4212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"Qual a diferença entre incerteza tipo A e tipo B segundo a apostila?"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4572000"/>
            <a:ext cx="11520000" cy="34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608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"Como calcular o PCS do gás natural a partir da composição cromatográfica?"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4968000"/>
            <a:ext cx="11520000" cy="34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5004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"Quais são os requisitos de medição fiscal em dutos offshore segundo a norma?"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5364000"/>
            <a:ext cx="11520000" cy="34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" y="5400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886"/>
                </a:solidFill>
                <a:latin typeface="Calibri"/>
              </a:rPr>
              <a:t>"Explique o método GUM de propagação de incertezas em termos simples"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61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Materiais para Continuar Aprendendo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62000"/>
            <a:ext cx="116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1BF"/>
                </a:solidFill>
                <a:latin typeface="Calibri"/>
              </a:rPr>
              <a:t>Recursos gratuitos para levar para casa</a:t>
            </a:r>
          </a:p>
        </p:txBody>
      </p:sp>
      <p:pic>
        <p:nvPicPr>
          <p:cNvPr id="5" name="Picture 4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200" y="72000"/>
            <a:ext cx="1800000" cy="54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24001"/>
            <a:ext cx="1183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Curso ABAR — Medições Inteligentes e Gestão Integrada | Fevereiro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15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78000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Ferramentas para começar HOJE (todas gratuitas):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566000"/>
            <a:ext cx="2340000" cy="342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" y="1602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chatgpt.com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6000" y="1566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→  Análise de planilhas, gráficos, resumos — sem instalar nada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1962000"/>
            <a:ext cx="2340000" cy="342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00" y="1998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notebooklm.google.com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6000" y="1962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→  Conversas com documentos técnicos — carregar apostila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358000"/>
            <a:ext cx="2340000" cy="342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00" y="239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github.com/copilot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6000" y="2358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→  Assistência de código — freemium, 2000 sugestões/mês grátis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2862000"/>
            <a:ext cx="115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880000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Artigos recomendados (acesso gratuito):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3168000"/>
            <a:ext cx="2340000" cy="342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000" y="3204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arxiv.org/abs/2303.12712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168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"Sparks of AGI" — Microsoft Research — 154 páginas sobre capacidades emergentes do GPT-4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3564000"/>
            <a:ext cx="2340000" cy="342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000" y="3600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arxiv.org/abs/2305.13657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6000" y="3564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"ChatGPT as Your Personal Data Scientist" — análise de dados com LLMs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3960000"/>
            <a:ext cx="2340000" cy="3420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000" y="3996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naruc.org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6000" y="3960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55"/>
                </a:solidFill>
                <a:latin typeface="Calibri"/>
              </a:rPr>
              <a:t>"AI for Gas Utilities" — Guia NARUC para reguladores de gás e energia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4464000"/>
            <a:ext cx="11520000" cy="234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4482000"/>
            <a:ext cx="11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Este projeto: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4770000"/>
            <a:ext cx="11520000" cy="54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8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4806000"/>
            <a:ext cx="113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• 7 Notebooks Jupyter disponibilizados para os alunos
• Artigos organizados por tema na pasta 'artigos/'
• Contato: raul.araujo@agenersa.rj.gov.br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648000"/>
            <a:ext cx="11437200" cy="55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mplate_Imagem 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72000"/>
            <a:ext cx="2160000" cy="6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82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886"/>
                </a:solidFill>
                <a:latin typeface="Calibri"/>
              </a:rPr>
              <a:t>Avaliação — Bloco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81BF"/>
                </a:solidFill>
                <a:latin typeface="Calibri"/>
              </a:rPr>
              <a:t>10 questões de múltipla escolha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980000"/>
            <a:ext cx="8820000" cy="216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0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55"/>
                </a:solidFill>
                <a:latin typeface="Calibri"/>
              </a:rPr>
              <a:t>Documento entregue em papel ou via link digital
Responda individualmente — tempo: 15 minutos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0" y="2736000"/>
            <a:ext cx="1620000" cy="16200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3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0" y="3168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3886"/>
                </a:solidFill>
                <a:latin typeface="Calibri"/>
              </a:rPr>
              <a:t>[QR Code
Avaliação]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536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3886"/>
                </a:solidFill>
                <a:latin typeface="Calibri"/>
              </a:rPr>
              <a:t>Obrigado! Dúvidas e comentários são bem-vindos.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6210000"/>
            <a:ext cx="11437200" cy="648000"/>
          </a:xfrm>
          <a:prstGeom prst="rect">
            <a:avLst/>
          </a:prstGeom>
          <a:solidFill>
            <a:srgbClr val="003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6282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raul.araujo@agenersa.rj.gov.br  |  Curso ABAR — Fevereiro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