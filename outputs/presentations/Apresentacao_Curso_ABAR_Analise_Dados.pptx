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Analise de Condicoes de Operacao de Distrito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Calibri"/>
              </a:defRPr>
            </a:pPr>
            <a:r>
              <a:t>Reproducao da Analise com Python e Inteligencia Artificial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474720"/>
            <a:ext cx="484632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800"/>
                </a:solidFill>
                <a:latin typeface="Calibri"/>
              </a:defRPr>
            </a:pPr>
            <a:r>
              <a:t>Curso ABAR - Medicoes Inteligentes e Gestao Integrada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  <a:latin typeface="Calibri"/>
              </a:defRPr>
            </a:pPr>
            <a:r>
              <a:t>AGENERSA - Agencia Reguladora de Energia e Saneamento do Estado do Rio de Janeiro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Calibri"/>
              </a:defRPr>
            </a:pPr>
            <a:r>
              <a:t>Ferramentas: Python | pandas | matplotlib | Claude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Objetivo do Exercicio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O que faremos neste curso pratico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Reproduzir a analise de dados reais de um distrito de gas usando Python +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Ler e explorar dados de uma planilha Excel real de operacao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Analisar volumes de entrada (Concessionaria vs Transportadora)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Avaliar o Poder Calorifico Superior (PCS) do gas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Calcular a energia diaria (Volume x PCS)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Tracar perfis de consumo dos 7 clientes do distrito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Calcular incertezas de medicao combinadas (metodo RSS)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Realizar o balanco de massa com bandas de incerteza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4389120" cy="4114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Dados Disponiveis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2860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37E"/>
                </a:solidFill>
                <a:latin typeface="Calibri"/>
              </a:defRPr>
            </a:pPr>
            <a:r>
              <a:t>• 1 distrito de distribuicao de gas</a:t>
            </a:r>
          </a:p>
          <a:p>
            <a:pPr>
              <a:spcAft>
                <a:spcPts val="600"/>
              </a:spcAft>
              <a:defRPr sz="1400">
                <a:solidFill>
                  <a:srgbClr val="1A237E"/>
                </a:solidFill>
                <a:latin typeface="Calibri"/>
              </a:defRPr>
            </a:pPr>
            <a:r>
              <a:t>• 7 clientes (pontos de saida)</a:t>
            </a:r>
          </a:p>
          <a:p>
            <a:pPr>
              <a:spcAft>
                <a:spcPts val="600"/>
              </a:spcAft>
              <a:defRPr sz="1400">
                <a:solidFill>
                  <a:srgbClr val="1A237E"/>
                </a:solidFill>
                <a:latin typeface="Calibri"/>
              </a:defRPr>
            </a:pPr>
            <a:r>
              <a:t>• 6 meses de dados (abr-set/2025)</a:t>
            </a:r>
          </a:p>
          <a:p>
            <a:pPr>
              <a:spcAft>
                <a:spcPts val="600"/>
              </a:spcAft>
              <a:defRPr sz="1400">
                <a:solidFill>
                  <a:srgbClr val="1A237E"/>
                </a:solidFill>
                <a:latin typeface="Calibri"/>
              </a:defRPr>
            </a:pPr>
            <a:r>
              <a:t>• 183 dias de dados diarios de entrada</a:t>
            </a:r>
          </a:p>
          <a:p>
            <a:pPr>
              <a:spcAft>
                <a:spcPts val="600"/>
              </a:spcAft>
              <a:defRPr sz="1400">
                <a:solidFill>
                  <a:srgbClr val="1A237E"/>
                </a:solidFill>
                <a:latin typeface="Calibri"/>
              </a:defRPr>
            </a:pPr>
            <a:r>
              <a:t>• ~4.400 registros horarios por cliente</a:t>
            </a:r>
          </a:p>
          <a:p>
            <a:pPr>
              <a:spcAft>
                <a:spcPts val="600"/>
              </a:spcAft>
              <a:defRPr sz="1400">
                <a:solidFill>
                  <a:srgbClr val="1A237E"/>
                </a:solidFill>
                <a:latin typeface="Calibri"/>
              </a:defRPr>
            </a:pPr>
            <a:r>
              <a:t>• Dados de volume, pressao, temperatura</a:t>
            </a:r>
          </a:p>
          <a:p>
            <a:pPr>
              <a:spcAft>
                <a:spcPts val="600"/>
              </a:spcAft>
              <a:defRPr sz="1400">
                <a:solidFill>
                  <a:srgbClr val="1A237E"/>
                </a:solidFill>
                <a:latin typeface="Calibri"/>
              </a:defRPr>
            </a:pPr>
            <a:r>
              <a:t>• PCS e energia diarios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Ferramentas: Python 3.x  |  pandas  |  matplotlib  |  openpyxl  |  Jupyter Notebooks  |  Claude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Etapa 1: Leitura e Exploracao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Notebook 01 - Entendendo a estrutura da planilha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097280"/>
                <a:gridCol w="11887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Conteudo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Registros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Vol Entrada 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Volumes diarios de entrada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183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PCS 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Poder Calorifico Superior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Diario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183 dias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Energia 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Energia = Vol x PCS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183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Cliente #1 a #7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Vol, Pressao, Temperatura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Horario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~4.400/cliente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Sumario das Medicoes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Resumo de condicoes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Consolidado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Incertezas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Incerteza por medidor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Consolidado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Balanco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Entrada vs Saidas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Consolidado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554480"/>
            <a:ext cx="4114800" cy="228600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>
                <a:solidFill>
                  <a:srgbClr val="E0E0E0"/>
                </a:solidFill>
                <a:latin typeface="Consolas"/>
              </a:defRPr>
            </a:pPr>
            <a:r>
              <a:t>import pandas as pd</a:t>
            </a:r>
            <a:br/>
            <a:br/>
            <a:r>
              <a:t>ARQUIVO = 'Analise de Condicoes</a:t>
            </a:r>
            <a:br/>
            <a:r>
              <a:t>           de Operacao de Distrito.xlsx'</a:t>
            </a:r>
            <a:br/>
            <a:br/>
            <a:r>
              <a:t>df = pd.read_excel(</a:t>
            </a:r>
            <a:br/>
            <a:r>
              <a:t>    ARQUIVO,</a:t>
            </a:r>
            <a:br/>
            <a:r>
              <a:t>    sheet_name='Vol Entrada Gas',</a:t>
            </a:r>
            <a:br/>
            <a:r>
              <a:t>    header=1,</a:t>
            </a:r>
            <a:br/>
            <a:r>
              <a:t>    usecols='B:F'</a:t>
            </a:r>
            <a:br/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4336"/>
                </a:solidFill>
                <a:latin typeface="Calibri"/>
              </a:defRPr>
            </a:pPr>
            <a:r>
              <a:t>Cuidados na leitura: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45720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⚠ Nomes de abas com espacos no final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⚠ Colunas vazias (deslocamento)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⚠ Clientes sem dados (Cliente #4)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⚠ header=1 ou header=2 conforme aba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Etapa 2: Analise de Volumes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Notebook 02 - Comparando Concessionaria vs Transportadora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/>
          <a:lstStyle/>
          <a:p>
            <a:pPr algn="ctr">
              <a:defRPr sz="1600" b="1">
                <a:solidFill>
                  <a:srgbClr val="333333"/>
                </a:solidFill>
                <a:latin typeface="Cambria Math"/>
              </a:defRPr>
            </a:pPr>
            <a:r>
              <a:t>Diferenca (%) = (Vol_Conc - Vol_Transp) / Vol_Conc x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Serie temporal de 183 dias (abril a setembro 2025)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Volume medio diario: ~996.000 Nm3/dia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Diferencas entre medicoes &lt; 0,01%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Dados consistentes entre Concessionaria e Transportadora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2286000" cy="91440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Volume Total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~183 Mm3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297680"/>
            <a:ext cx="2286000" cy="9144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Dif. Conc vs Transp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&lt; 0,01%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5029200" cy="91440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100">
                <a:solidFill>
                  <a:srgbClr val="E0E0E0"/>
                </a:solidFill>
                <a:latin typeface="Consolas"/>
              </a:defRPr>
            </a:pPr>
            <a:r>
              <a:t>df['Dif_Pct'] = (df['Vol_Conc'] - df['Vol_Transp'])</a:t>
            </a:r>
            <a:br/>
            <a:r>
              <a:t>                / df['Vol_Conc'] * 100</a:t>
            </a:r>
          </a:p>
        </p:txBody>
      </p:sp>
      <p:pic>
        <p:nvPicPr>
          <p:cNvPr id="11" name="Picture 10" descr="vol_entrada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669280" cy="20784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Etapa 3: Analise do Poder Calorifico Superior (PCS)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Notebook 03 - Qualidade do gas ao longo do tempo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PCS = Poder Calorifico Superior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Energia total por m3 de gas (kcal/m3).</a:t>
            </a:r>
            <a:br/>
            <a:r>
              <a:t>Depende da composicao (cromatografia).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PCS medio: ~9.539 kcal/m3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Variacao: 9.168 a 9.786 kcal/m3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Medicoes Conc vs Transp: dif &lt; 0,01%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Composicao varia ao longo do tempo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2286000" cy="82296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PCS Medio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9.539 kcal/m3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572000"/>
            <a:ext cx="1097280" cy="82296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Min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9.168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572000"/>
            <a:ext cx="1097280" cy="82296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Max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9.786</a:t>
            </a:r>
          </a:p>
        </p:txBody>
      </p:sp>
      <p:pic>
        <p:nvPicPr>
          <p:cNvPr id="13" name="Picture 12" descr="pc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669280" cy="20784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Etapa 4: Calculo de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Notebook 04 - Energia = Volume x PCS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7315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/>
          <a:lstStyle/>
          <a:p>
            <a:pPr algn="ctr">
              <a:defRPr sz="1500" b="1">
                <a:solidFill>
                  <a:srgbClr val="333333"/>
                </a:solidFill>
                <a:latin typeface="Cambria Math"/>
              </a:defRPr>
            </a:pPr>
            <a:r>
              <a:t>Energia (kcal) = Volume (Nm3) x PCS (kcal/Nm3)</a:t>
            </a:r>
            <a:br/>
            <a:r>
              <a:t>Energia (Gcal) = Energia (kcal) / 1.000.000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Energia diaria calculada para 183 dias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Validacao: valores conferem com planilha (dif ~ 0%)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Energia media diaria: ~9.536 Gcal/dia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Relacao volume-energia quase linear (r &gt; 0.999)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2286000" cy="914400"/>
          </a:xfrm>
          <a:prstGeom prst="round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Energia Media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~9.536 Gcal/d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297680"/>
            <a:ext cx="2286000" cy="9144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Validacao Planilha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Dif ~ 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5029200" cy="91440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100">
                <a:solidFill>
                  <a:srgbClr val="E0E0E0"/>
                </a:solidFill>
                <a:latin typeface="Consolas"/>
              </a:defRPr>
            </a:pPr>
            <a:r>
              <a:t>df['Energia'] = df['Volume_Nm3d'] * df['PCS']</a:t>
            </a:r>
            <a:br/>
            <a:r>
              <a:t># Verificacao: diferenca ~ 0% vs planilha</a:t>
            </a:r>
          </a:p>
        </p:txBody>
      </p:sp>
      <p:pic>
        <p:nvPicPr>
          <p:cNvPr id="11" name="Picture 10" descr="energia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669280" cy="20784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Etapa 5: Perfis de Consumo dos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Notebook 05 - 7 clientes, 7 padroes de consumo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4389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914400"/>
              </a:tblGrid>
              <a:tr h="4000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Empresa A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104,1 Mm3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57,5%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Empresa 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43,7 Mm3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24,1%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Empresa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10,2 Mm3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Empresa 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10,1 Mm3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5,6%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Empresa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6,8 Mm3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Empresa 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6,0 Mm3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Empresa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0,09 Mm3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0,05%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A domina (57,5%)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Top 2 = 81,6% do volume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D = 0,05% (GNV)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Fator de carga revela padrao</a:t>
            </a:r>
          </a:p>
        </p:txBody>
      </p:sp>
      <p:pic>
        <p:nvPicPr>
          <p:cNvPr id="8" name="Picture 7" descr="clientes_particip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669280" cy="2285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Etapa 6: Calculo de Incertezas de Medicao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Notebook 06 - Metodo RSS (Root Sum of Squares)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/>
          <a:lstStyle/>
          <a:p>
            <a:pPr algn="ctr">
              <a:defRPr sz="1600" b="1">
                <a:solidFill>
                  <a:srgbClr val="333333"/>
                </a:solidFill>
                <a:latin typeface="Cambria Math"/>
              </a:defRPr>
            </a:pPr>
            <a:r>
              <a:t>U_combinada = sqrt( u1^2 + u2^2 + ... + un^2 )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Incertezas individuais: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Tramo 101: 1,06% | Tramo 501: 1,09%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A: 1,33% | Empresa B: 1,61%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C: 1,34% | Empresa E: 3,05%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F: 1,48% | Empresa G: 2,80%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D: 3,58%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2286000" cy="91440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U entrada (RSS)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1,52%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572000"/>
            <a:ext cx="2286000" cy="91440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U saidas (RSS)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6,19%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5029200" cy="73152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100">
                <a:solidFill>
                  <a:srgbClr val="E0E0E0"/>
                </a:solidFill>
                <a:latin typeface="Consolas"/>
              </a:defRPr>
            </a:pPr>
            <a:r>
              <a:t>u_entrada = sqrt(0.0106^2 + 0.0109^2) = 1.52%</a:t>
            </a:r>
            <a:br/>
            <a:r>
              <a:t>u_saida = sqrt(0.0133^2 + ... + 0.0280^2) = 6.19%</a:t>
            </a:r>
          </a:p>
        </p:txBody>
      </p:sp>
      <p:pic>
        <p:nvPicPr>
          <p:cNvPr id="12" name="Picture 11" descr="incertezas_bar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669280" cy="32450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Etapa 7: Balanco de Massa com Incertezas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Notebook 07 - A diferenca e aceitavel?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/>
          <a:lstStyle/>
          <a:p>
            <a:pPr algn="ctr">
              <a:defRPr sz="1500" b="1">
                <a:solidFill>
                  <a:srgbClr val="333333"/>
                </a:solidFill>
                <a:latin typeface="Cambria Math"/>
              </a:defRPr>
            </a:pPr>
            <a:r>
              <a:t>Dif (%) = (Entrada - Soma_Saidas) / Entrada x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Bandas de variacao: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0" cy="4572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/>
          <a:lstStyle/>
          <a:p>
            <a:pPr algn="ctr">
              <a:defRPr sz="1400" b="1">
                <a:solidFill>
                  <a:srgbClr val="333333"/>
                </a:solidFill>
                <a:latin typeface="Cambria Math"/>
              </a:defRPr>
            </a:pPr>
            <a:r>
              <a:t>V_min = V x (1 - U%)     V_max = V x (1 + U%)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Se bandas se sobrepoem -&gt; diferenca explicada pela incerteza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Se NAO -&gt; perda real ou problema no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Entrada: 182,9 Mm3  [180,1 - 185,7 Mm3]  (+/- 1,52%)</a:t>
            </a:r>
            <a:br/>
            <a:r>
              <a:t>Saidas:  180,9 Mm3  [169,7 - 192,1 Mm3]  (+/- 6,19%)</a:t>
            </a:r>
            <a:br/>
            <a:r>
              <a:t>Sobreposicao: SIM -&gt; Balanco ACEITAVEL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554480" cy="82296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Entrada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182,9 Mm3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394960"/>
            <a:ext cx="1554480" cy="82296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Saidas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180,9 Mm3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5394960"/>
            <a:ext cx="1554480" cy="82296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Diferenca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1,09%</a:t>
            </a:r>
          </a:p>
        </p:txBody>
      </p:sp>
      <p:pic>
        <p:nvPicPr>
          <p:cNvPr id="14" name="Picture 13" descr="balanco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669280" cy="28096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Resultado Final -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Visao consolidada do balanco de massa do distrito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118872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Volume Entrada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182,9 Mm3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554480"/>
            <a:ext cx="2560320" cy="118872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Volume Saida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180,9 Mm3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1828800" cy="118872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Diferenca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1,09%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554480"/>
            <a:ext cx="1828800" cy="118872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U Entrada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1,52%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07040" y="1554480"/>
            <a:ext cx="1371600" cy="118872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Resultado</a:t>
            </a:r>
          </a:p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pic>
        <p:nvPicPr>
          <p:cNvPr id="11" name="Picture 10" descr="balanc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17520"/>
            <a:ext cx="5943600" cy="20412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Calibri"/>
              </a:defRPr>
            </a:pPr>
            <a:r>
              <a:t>Participacao no Distrito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474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A:              104,1 Mm3 (57,5%)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B: 43,7 Mm3 (24,1%)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E:           10,2 Mm3 (5,6%)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G:             10,1 Mm3 (5,6%)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C:    6,8 Mm3 (3,7%)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F:              6,0 Mm3 (3,3%)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Empresa D (GNV):     0,09 Mm3 (0,05%)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Bandas se sobrepoem -&gt; balanco ACEITAVEL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Conclusoes e Licoes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O que aprendemos com este exercicio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418320" cy="109728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9800"/>
                </a:solidFill>
                <a:latin typeface="Calibri"/>
              </a:defRPr>
            </a:pPr>
            <a:r>
              <a:t>"Voce fatura o que mede e nao o que produz!"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Conclusoes Tecnicas: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Balanco de massa e essencial para gestao de distritos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Incertezas definem se diferencas sao aceitaveis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Metodo RSS (GUM 2008) e o padrao para combinar incertezas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Diferenca de ~1% esta dentro das bandas -&gt; balanco aceitavel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PCS afeta diretamente o valor energetico e comercial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Medidores com alta incerteza impactam todo o balanco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27B0"/>
                </a:solidFill>
                <a:latin typeface="Calibri"/>
              </a:defRPr>
            </a:pPr>
            <a:r>
              <a:t>Sobre o uso de Python + AI: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474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Python permite reproduzir analises de forma transparente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Notebooks documentam cada etapa do processo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AI acelera a escrita de codigo e identifica erros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Validacao cruzada com planilha garante confiabilidade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Graficos automaticos facilitam a interpretacao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Codigo pode ser reutilizado para outros distritos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Estrutura dos Notebooks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Roteiro completo para reproducao da analise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731520" cy="59436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Leitura e Exploracao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47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Ler Excel, mapear abas, tipos de dados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731520" cy="59436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Volumes de 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32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Serie temporal, diferencas Conc vs Transp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731520" cy="59436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Analise do PCS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18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PCS diario, media movel, distribuicao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731520" cy="594360"/>
          </a:xfrm>
          <a:prstGeom prst="round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Calculo de Energia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04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Energia = Vol x PCS, verificacao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731520" cy="59436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Perfis dos Clientes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90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Consumo horario, participacao, heatmap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731520" cy="594360"/>
          </a:xfrm>
          <a:prstGeom prst="roundRect">
            <a:avLst/>
          </a:prstGeom>
          <a:solidFill>
            <a:srgbClr val="F44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Incertezas de Medicao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276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RSS, limites regulamentares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731520" cy="59436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Balanco de Massa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961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Entrada vs Saidas, bandas, waterfall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Como executar: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2011680"/>
            <a:ext cx="4389120" cy="320040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>
                <a:solidFill>
                  <a:srgbClr val="E0E0E0"/>
                </a:solidFill>
                <a:latin typeface="Consolas"/>
              </a:defRPr>
            </a:pPr>
            <a:r>
              <a:t># 1. Instalar dependencias</a:t>
            </a:r>
            <a:br/>
            <a:r>
              <a:t>pip install -r requirements.txt</a:t>
            </a:r>
            <a:br/>
            <a:br/>
            <a:r>
              <a:t># 2. Abrir Jupyter</a:t>
            </a:r>
            <a:br/>
            <a:r>
              <a:t>jupyter notebook</a:t>
            </a:r>
            <a:br/>
            <a:br/>
            <a:r>
              <a:t># 3. Executar cada notebook</a:t>
            </a:r>
            <a:br/>
            <a:r>
              <a:t>#    em ordem (01 a 07)</a:t>
            </a:r>
            <a:br/>
            <a:br/>
            <a:r>
              <a:t># Arquivo de dados necessario:</a:t>
            </a:r>
            <a:br/>
            <a:r>
              <a:t># 'Analise de Condicoes de</a:t>
            </a:r>
            <a:br/>
            <a:r>
              <a:t>#  Operacao de Distrito.xlsx'</a:t>
            </a:r>
            <a:br/>
            <a:r>
              <a:t># (na mesma pasta dos notebooks)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486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Requisitos: Python 3.9+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760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pandas, openpyxl, matplotlib, seaborn, numpy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9800"/>
                </a:solidFill>
                <a:latin typeface="Calibri"/>
              </a:defRPr>
            </a:pPr>
            <a:r>
              <a:t>Curso ABAR - Medicoes Inteligentes e Gestao Integrada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84632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EFB"/>
                </a:solidFill>
                <a:latin typeface="Calibri"/>
              </a:defRPr>
            </a:pPr>
            <a:r>
              <a:t>Analise reproduzida com Python + Claude AI</a:t>
            </a:r>
            <a:br/>
            <a:r>
              <a:t>Todos os notebooks e dados estao disponiveis para pratica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Calibri"/>
              </a:defRPr>
            </a:pPr>
            <a:r>
              <a:t>AGENERSA - Agencia Reguladora de Energia e Saneamento do Estado do Rio de Janeiro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